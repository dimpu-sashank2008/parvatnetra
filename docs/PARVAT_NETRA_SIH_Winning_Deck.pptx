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72A"/>
          </a:solidFill>
          <a:ln w="19050"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4063593" cy="36576"/>
          </a:xfrm>
          <a:prstGeom prst="rect">
            <a:avLst/>
          </a:prstGeom>
          <a:solidFill>
            <a:srgbClr val="FF99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063593" y="969264"/>
            <a:ext cx="4063593" cy="365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127187" y="969264"/>
            <a:ext cx="4064508" cy="36576"/>
          </a:xfrm>
          <a:prstGeom prst="rect">
            <a:avLst/>
          </a:prstGeom>
          <a:solidFill>
            <a:srgbClr val="1288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9728"/>
            <a:ext cx="1109441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38BDF8"/>
                </a:solidFill>
              </a:defRPr>
            </a:pPr>
            <a:r>
              <a:t>SMART INDIA HACKATHON 2026 | MINISTRY OF DEVELOPMENT OF NORTH EASTERN REGION (MDONER)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47472"/>
            <a:ext cx="1109441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FFFFFF"/>
                </a:solidFill>
              </a:defRPr>
            </a:pPr>
            <a:r>
              <a:t>PARVAT NETRA (पर्वत नेत्रा) -- National Landslide Intelligence Platform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537960"/>
            <a:ext cx="1109441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94A3B8"/>
                </a:solidFill>
              </a:defRPr>
            </a:pPr>
            <a:r>
              <a:t>PARVAT NETRA -- NER Sentinel Decision Intelligence Platform | Ministry of Development of North Eastern Region (MDoNER) | SIH-26001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143000"/>
            <a:ext cx="8961120" cy="109728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1E3A8A"/>
                </a:solidFill>
              </a:defRPr>
            </a:pPr>
            <a:r>
              <a:t>AI-Based Landslide Early Warning, Geotechnical Fusion &amp; Lifeline Mitigation System</a:t>
            </a:r>
          </a:p>
          <a:p>
            <a:pPr>
              <a:defRPr sz="950">
                <a:solidFill>
                  <a:srgbClr val="1E293B"/>
                </a:solidFill>
              </a:defRPr>
            </a:pPr>
            <a:r>
              <a:t>Autonomous national disaster-intelligence platform correlating physical Mohr-Coulomb geotechnical mechanics, satellite InSAR, physics-informed vadose infiltration, live IMD precipitation, and dynamic emergency bypass logistics along the vital NH-10 corridor.</a:t>
            </a:r>
          </a:p>
        </p:txBody>
      </p:sp>
      <p:pic>
        <p:nvPicPr>
          <p:cNvPr id="11" name="Picture 10" descr="sentinel_emble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92640" y="1097280"/>
            <a:ext cx="1920240" cy="1920240"/>
          </a:xfrm>
          <a:prstGeom prst="rect">
            <a:avLst/>
          </a:prstGeom>
        </p:spPr>
      </p:pic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548640" y="2377440"/>
          <a:ext cx="8961120" cy="39776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6400800"/>
              </a:tblGrid>
              <a:tr h="568234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1E293B"/>
                          </a:solidFill>
                        </a:defRPr>
                      </a:pPr>
                      <a:r>
                        <a:t>Problem Statement ID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26001 (Smart India Hackathon 2026)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68234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1E293B"/>
                          </a:solidFill>
                        </a:defRPr>
                      </a:pPr>
                      <a:r>
                        <a:t>Organization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Ministry of Development of North Eastern Region (MDoNER)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68234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1E293B"/>
                          </a:solidFill>
                        </a:defRPr>
                      </a:pPr>
                      <a:r>
                        <a:t>Problem Title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Development of an AI-Based Landslide Early Warning and Risk Mitigation System for North Eastern Region (NER)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68234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1E293B"/>
                          </a:solidFill>
                        </a:defRPr>
                      </a:pPr>
                      <a:r>
                        <a:t>Focus Corridor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NH-10 Arterial Highway, Teesta River Valley (Sikkim–Kalimpong)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68234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1E293B"/>
                          </a:solidFill>
                        </a:defRPr>
                      </a:pPr>
                      <a:r>
                        <a:t>PS Category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Software / Enterprise Geotechnical Geospatial AI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68234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1E293B"/>
                          </a:solidFill>
                        </a:defRPr>
                      </a:pPr>
                      <a:r>
                        <a:t>Framework Standards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NDMA CAP v1.2 | GIGW 3.0 | ISRO Bhuvan WMS / GSI NLSM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68235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1E293B"/>
                          </a:solidFill>
                        </a:defRPr>
                      </a:pPr>
                      <a:r>
                        <a:t>Team Name &amp; ID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Team NER-SENTINEL (Team ID: SIH-2026-PS26001-ALPHA)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Rounded Rectangle 12"/>
          <p:cNvSpPr/>
          <p:nvPr/>
        </p:nvSpPr>
        <p:spPr>
          <a:xfrm>
            <a:off x="9692640" y="3154680"/>
            <a:ext cx="1950415" cy="320040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000">
                <a:solidFill>
                  <a:srgbClr val="1E3A8A"/>
                </a:solidFill>
              </a:defRPr>
            </a:pPr>
            <a:r>
              <a:t>SIH 2026 INVARIANTS</a:t>
            </a:r>
          </a:p>
          <a:p>
            <a:pPr>
              <a:defRPr sz="850">
                <a:solidFill>
                  <a:srgbClr val="1E293B"/>
                </a:solidFill>
              </a:defRPr>
            </a:pPr>
            <a:r>
              <a:t>• 5-Modality Physics Fusion</a:t>
            </a:r>
          </a:p>
          <a:p>
            <a:pPr>
              <a:defRPr sz="850">
                <a:solidFill>
                  <a:srgbClr val="1E293B"/>
                </a:solidFill>
              </a:defRPr>
            </a:pPr>
            <a:r>
              <a:t>• Sub-50ms PostGIS 3.6</a:t>
            </a:r>
          </a:p>
          <a:p>
            <a:pPr>
              <a:defRPr sz="850">
                <a:solidFill>
                  <a:srgbClr val="1E293B"/>
                </a:solidFill>
              </a:defRPr>
            </a:pPr>
            <a:r>
              <a:t>• 24-48h Predictive Lead</a:t>
            </a:r>
          </a:p>
          <a:p>
            <a:pPr>
              <a:defRPr sz="850">
                <a:solidFill>
                  <a:srgbClr val="1E293B"/>
                </a:solidFill>
              </a:defRPr>
            </a:pPr>
            <a:r>
              <a:t>• Automated Bypass Routing</a:t>
            </a:r>
          </a:p>
          <a:p>
            <a:pPr>
              <a:defRPr sz="850">
                <a:solidFill>
                  <a:srgbClr val="1E293B"/>
                </a:solidFill>
              </a:defRPr>
            </a:pPr>
            <a:r>
              <a:t>• 4-Language Voice CAP</a:t>
            </a:r>
          </a:p>
          <a:p>
            <a:pPr>
              <a:defRPr sz="850">
                <a:solidFill>
                  <a:srgbClr val="1E293B"/>
                </a:solidFill>
              </a:defRPr>
            </a:pPr>
            <a:r>
              <a:t>• GIGW 3.0 &amp; Zero-Trust RBAC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72A"/>
          </a:solidFill>
          <a:ln w="19050"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4063593" cy="36576"/>
          </a:xfrm>
          <a:prstGeom prst="rect">
            <a:avLst/>
          </a:prstGeom>
          <a:solidFill>
            <a:srgbClr val="FF99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063593" y="969264"/>
            <a:ext cx="4063593" cy="365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127187" y="969264"/>
            <a:ext cx="4064508" cy="36576"/>
          </a:xfrm>
          <a:prstGeom prst="rect">
            <a:avLst/>
          </a:prstGeom>
          <a:solidFill>
            <a:srgbClr val="1288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9728"/>
            <a:ext cx="1109441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38BDF8"/>
                </a:solidFill>
              </a:defRPr>
            </a:pPr>
            <a:r>
              <a:t>SIH 2026 | PS ID: 26001 | MDONER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47472"/>
            <a:ext cx="1109441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FFFFFF"/>
                </a:solidFill>
              </a:defRPr>
            </a:pPr>
            <a:r>
              <a:t>Real-World Problem, Strategic Solution &amp; Core Value Architecture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537960"/>
            <a:ext cx="1109441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94A3B8"/>
                </a:solidFill>
              </a:defRPr>
            </a:pPr>
            <a:r>
              <a:t>PARVAT NETRA -- NER Sentinel Decision Intelligence Platform | Ministry of Development of North Eastern Region (MDoNER) | SIH-26001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143000"/>
            <a:ext cx="3474720" cy="3840480"/>
          </a:xfrm>
          <a:prstGeom prst="roundRect">
            <a:avLst/>
          </a:prstGeom>
          <a:solidFill>
            <a:srgbClr val="FEF2F2"/>
          </a:solidFill>
          <a:ln w="190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150">
                <a:solidFill>
                  <a:srgbClr val="DC2626"/>
                </a:solidFill>
              </a:defRPr>
            </a:pPr>
            <a:r>
              <a:t>REAL-WORLD PROBLEM</a:t>
            </a:r>
          </a:p>
          <a:p>
            <a:pPr>
              <a:defRPr sz="850">
                <a:solidFill>
                  <a:srgbClr val="1E293B"/>
                </a:solidFill>
              </a:defRPr>
            </a:pPr>
            <a:r>
              <a:t>• Strategic NH-10 severed 40+ days/year by post-GLOF toe scour &amp; steep slope cuts.</a:t>
            </a:r>
          </a:p>
          <a:p>
            <a:pPr>
              <a:defRPr sz="850">
                <a:solidFill>
                  <a:srgbClr val="1E293B"/>
                </a:solidFill>
              </a:defRPr>
            </a:pPr>
            <a:r>
              <a:t>• Oct 2023 South Lhonak GLOF caused +6.5m bed aggradation &amp; severe hydraulic shear (tau_b = 6000 Pa).</a:t>
            </a:r>
          </a:p>
          <a:p>
            <a:pPr>
              <a:defRPr sz="850">
                <a:solidFill>
                  <a:srgbClr val="1E293B"/>
                </a:solidFill>
              </a:defRPr>
            </a:pPr>
            <a:r>
              <a:t>• Teesta hydraulic toe erosion degrades passive resistance Pp by 96.0% (773 -&gt; 31 kN/m), dropping FS to 0.928 (RED).</a:t>
            </a:r>
          </a:p>
          <a:p>
            <a:pPr>
              <a:defRPr sz="850">
                <a:solidFill>
                  <a:srgbClr val="1E293B"/>
                </a:solidFill>
              </a:defRPr>
            </a:pPr>
            <a:r>
              <a:t>• Saturated colluvium drops Gangtok FS to 0.745; unreinforced cuts (&gt;60 deg) amplify risk by 1.15x.</a:t>
            </a:r>
          </a:p>
          <a:p>
            <a:pPr>
              <a:defRPr sz="850">
                <a:solidFill>
                  <a:srgbClr val="1E293B"/>
                </a:solidFill>
              </a:defRPr>
            </a:pPr>
            <a:r>
              <a:t>• Conventional single-rain alerts produce 48% false alarms; ₹450 Cr trade loss &amp; severed military lifelines.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58030" y="1143000"/>
            <a:ext cx="3474720" cy="3840480"/>
          </a:xfrm>
          <a:prstGeom prst="roundRect">
            <a:avLst/>
          </a:prstGeom>
          <a:solidFill>
            <a:srgbClr val="F0FDF4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150">
                <a:solidFill>
                  <a:srgbClr val="10B981"/>
                </a:solidFill>
              </a:defRPr>
            </a:pPr>
            <a:r>
              <a:t>PROPOSED SOLUTION</a:t>
            </a:r>
          </a:p>
          <a:p>
            <a:pPr>
              <a:defRPr sz="850">
                <a:solidFill>
                  <a:srgbClr val="1E293B"/>
                </a:solidFill>
              </a:defRPr>
            </a:pPr>
            <a:r>
              <a:t>• 5-Modality Physics Fusion: van Genuchten SWCC matric suction + Green-Ampt infiltration + Mohr-Coulomb limit equilibrium.</a:t>
            </a:r>
          </a:p>
          <a:p>
            <a:pPr>
              <a:defRPr sz="850">
                <a:solidFill>
                  <a:srgbClr val="1E293B"/>
                </a:solidFill>
              </a:defRPr>
            </a:pPr>
            <a:r>
              <a:t>• Hydrodynamic Toe Scour Coupling: Quantifies river stage, basal shear &amp; passive resistance degradation.</a:t>
            </a:r>
          </a:p>
          <a:p>
            <a:pPr>
              <a:defRPr sz="850">
                <a:solidFill>
                  <a:srgbClr val="1E293B"/>
                </a:solidFill>
              </a:defRPr>
            </a:pPr>
            <a:r>
              <a:t>• IRC SP:84 Freight Optimization: 40T convoys routed via Lava (+2.5h, 45T limit) avoiding Mungpoo (6.5% grade, 33.8h penalty).</a:t>
            </a:r>
          </a:p>
          <a:p>
            <a:pPr>
              <a:defRPr sz="850">
                <a:solidFill>
                  <a:srgbClr val="1E293B"/>
                </a:solidFill>
              </a:defRPr>
            </a:pPr>
            <a:r>
              <a:t>• Humanitarian HCII Matrix: Monitors food/fuel depletion and air-drop triage across 4 GLOF settlements.</a:t>
            </a:r>
          </a:p>
          <a:p>
            <a:pPr>
              <a:defRPr sz="850">
                <a:solidFill>
                  <a:srgbClr val="1E293B"/>
                </a:solidFill>
              </a:defRPr>
            </a:pPr>
            <a:r>
              <a:t>• GSI NLFC &amp; C-DOT CBS Integration: OASIS CAP v1.2 XML with ne-IN gap-fill + CH-4370 hardware siren override.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68335" y="1143000"/>
            <a:ext cx="3474720" cy="384048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150">
                <a:solidFill>
                  <a:srgbClr val="1E3A8A"/>
                </a:solidFill>
              </a:defRPr>
            </a:pPr>
            <a:r>
              <a:t>RISK VS. SOLUTION PAIRS</a:t>
            </a:r>
          </a:p>
          <a:p>
            <a:pPr>
              <a:defRPr sz="850" b="1">
                <a:solidFill>
                  <a:srgbClr val="DC2626"/>
                </a:solidFill>
              </a:defRPr>
            </a:pPr>
            <a:r>
              <a:t>❌ Black-Box Heuristic Alerts</a:t>
            </a:r>
          </a:p>
          <a:p>
            <a:pPr>
              <a:defRPr sz="819">
                <a:solidFill>
                  <a:srgbClr val="1E293B"/>
                </a:solidFill>
              </a:defRPr>
            </a:pPr>
            <a:r>
              <a:t>✔️ Physical FoS (Gangtok 0.745, Teesta 0.928) with 100% explainable soil physics.</a:t>
            </a:r>
          </a:p>
          <a:p>
            <a:pPr>
              <a:defRPr sz="850" b="1">
                <a:solidFill>
                  <a:srgbClr val="DC2626"/>
                </a:solidFill>
              </a:defRPr>
            </a:pPr>
            <a:r>
              <a:t>❌ Reactionary Mountain Gridlock</a:t>
            </a:r>
          </a:p>
          <a:p>
            <a:pPr>
              <a:defRPr sz="819">
                <a:solidFill>
                  <a:srgbClr val="1E293B"/>
                </a:solidFill>
              </a:defRPr>
            </a:pPr>
            <a:r>
              <a:t>✔️ Automated Lava Freight Detour: 45T rated with zero gradient penalty.</a:t>
            </a:r>
          </a:p>
          <a:p>
            <a:pPr>
              <a:defRPr sz="850" b="1">
                <a:solidFill>
                  <a:srgbClr val="DC2626"/>
                </a:solidFill>
              </a:defRPr>
            </a:pPr>
            <a:r>
              <a:t>❌ Unreached Vernacular Hamlets</a:t>
            </a:r>
          </a:p>
          <a:p>
            <a:pPr>
              <a:defRPr sz="819">
                <a:solidFill>
                  <a:srgbClr val="1E293B"/>
                </a:solidFill>
              </a:defRPr>
            </a:pPr>
            <a:r>
              <a:t>✔️ Sachet CAP v1.2 XML with Nepali (ne-IN) and C-DOT CH-4370 hardware override.</a:t>
            </a:r>
          </a:p>
        </p:txBody>
      </p:sp>
      <p:pic>
        <p:nvPicPr>
          <p:cNvPr id="13" name="Picture 12" descr="problem_solution_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5074920"/>
            <a:ext cx="5394960" cy="868680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6217920" y="5120640"/>
            <a:ext cx="2651760" cy="384048"/>
          </a:xfrm>
          <a:prstGeom prst="roundRect">
            <a:avLst/>
          </a:prstGeom>
          <a:solidFill>
            <a:srgbClr val="1E3A8A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850" b="1"/>
            </a:pPr>
            <a:r>
              <a:t>Live Portal: http://localhost:8080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91295" y="5120640"/>
            <a:ext cx="2651760" cy="384048"/>
          </a:xfrm>
          <a:prstGeom prst="roundRect">
            <a:avLst/>
          </a:prstGeom>
          <a:solidFill>
            <a:srgbClr val="0284C7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850" b="1"/>
            </a:pPr>
            <a:r>
              <a:t>Video Demo Walkthrough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72A"/>
          </a:solidFill>
          <a:ln w="19050"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4063593" cy="36576"/>
          </a:xfrm>
          <a:prstGeom prst="rect">
            <a:avLst/>
          </a:prstGeom>
          <a:solidFill>
            <a:srgbClr val="FF99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063593" y="969264"/>
            <a:ext cx="4063593" cy="365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127187" y="969264"/>
            <a:ext cx="4064508" cy="36576"/>
          </a:xfrm>
          <a:prstGeom prst="rect">
            <a:avLst/>
          </a:prstGeom>
          <a:solidFill>
            <a:srgbClr val="1288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9728"/>
            <a:ext cx="1109441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38BDF8"/>
                </a:solidFill>
              </a:defRPr>
            </a:pPr>
            <a:r>
              <a:t>SIH 2026 | PS ID: 26001 | MDONER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47472"/>
            <a:ext cx="1109441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FFFFFF"/>
                </a:solidFill>
              </a:defRPr>
            </a:pPr>
            <a:r>
              <a:t>Technical Approach, Methodology Pipeline &amp; Architecture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537960"/>
            <a:ext cx="1109441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94A3B8"/>
                </a:solidFill>
              </a:defRPr>
            </a:pPr>
            <a:r>
              <a:t>PARVAT NETRA -- NER Sentinel Decision Intelligence Platform | Ministry of Development of North Eastern Region (MDoNER) | SIH-26001</a:t>
            </a:r>
          </a:p>
        </p:txBody>
      </p:sp>
      <p:pic>
        <p:nvPicPr>
          <p:cNvPr id="10" name="Picture 9" descr="flowchart_methodolog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3474720" cy="4572000"/>
          </a:xfrm>
          <a:prstGeom prst="rect">
            <a:avLst/>
          </a:prstGeom>
        </p:spPr>
      </p:pic>
      <p:pic>
        <p:nvPicPr>
          <p:cNvPr id="11" name="Picture 10" descr="architecture_diagra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06240" y="1143000"/>
            <a:ext cx="4937760" cy="4572000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9326880" y="1143000"/>
            <a:ext cx="2316175" cy="457200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100">
                <a:solidFill>
                  <a:srgbClr val="1E3A8A"/>
                </a:solidFill>
              </a:defRPr>
            </a:pPr>
            <a:r>
              <a:t>CORE TECH STACK</a:t>
            </a:r>
          </a:p>
          <a:p>
            <a:pPr>
              <a:defRPr b="1" sz="900">
                <a:solidFill>
                  <a:srgbClr val="10B981"/>
                </a:solidFill>
              </a:defRPr>
            </a:pPr>
            <a:r>
              <a:t>• Python 3.11</a:t>
            </a:r>
          </a:p>
          <a:p>
            <a:pPr>
              <a:defRPr sz="800">
                <a:solidFill>
                  <a:srgbClr val="1E293B"/>
                </a:solidFill>
              </a:defRPr>
            </a:pPr>
            <a:r>
              <a:t>  van Genuchten SWCC &amp; Mohr-Coulomb Core</a:t>
            </a:r>
          </a:p>
          <a:p>
            <a:pPr>
              <a:defRPr b="1" sz="900">
                <a:solidFill>
                  <a:srgbClr val="10B981"/>
                </a:solidFill>
              </a:defRPr>
            </a:pPr>
            <a:r>
              <a:t>• PAHAD AI Engine</a:t>
            </a:r>
          </a:p>
          <a:p>
            <a:pPr>
              <a:defRPr sz="800">
                <a:solidFill>
                  <a:srgbClr val="1E293B"/>
                </a:solidFill>
              </a:defRPr>
            </a:pPr>
            <a:r>
              <a:t>  GBDT [TRAINED_LIMITED_DATA] + LSTM [SURROGATE]</a:t>
            </a:r>
          </a:p>
          <a:p>
            <a:pPr>
              <a:defRPr b="1" sz="900">
                <a:solidFill>
                  <a:srgbClr val="10B981"/>
                </a:solidFill>
              </a:defRPr>
            </a:pPr>
            <a:r>
              <a:t>• Telemetry Truth</a:t>
            </a:r>
          </a:p>
          <a:p>
            <a:pPr>
              <a:defRPr sz="800">
                <a:solidFill>
                  <a:srgbClr val="1E293B"/>
                </a:solidFill>
              </a:defRPr>
            </a:pPr>
            <a:r>
              <a:t>  IMD NWP [LIVE] | In-Situ Sensors [SIMULATED]</a:t>
            </a:r>
          </a:p>
          <a:p>
            <a:pPr>
              <a:defRPr b="1" sz="900">
                <a:solidFill>
                  <a:srgbClr val="10B981"/>
                </a:solidFill>
              </a:defRPr>
            </a:pPr>
            <a:r>
              <a:t>• Neon PostGIS 3.6</a:t>
            </a:r>
          </a:p>
          <a:p>
            <a:pPr>
              <a:defRPr sz="800">
                <a:solidFill>
                  <a:srgbClr val="1E293B"/>
                </a:solidFill>
              </a:defRPr>
            </a:pPr>
            <a:r>
              <a:t>  Serverless Spatial GiST &amp; DBSCAN Clusters</a:t>
            </a:r>
          </a:p>
          <a:p>
            <a:pPr>
              <a:defRPr b="1" sz="900">
                <a:solidFill>
                  <a:srgbClr val="10B981"/>
                </a:solidFill>
              </a:defRPr>
            </a:pPr>
            <a:r>
              <a:t>• GSI NLFC Sync</a:t>
            </a:r>
          </a:p>
          <a:p>
            <a:pPr>
              <a:defRPr sz="800">
                <a:solidFill>
                  <a:srgbClr val="1E293B"/>
                </a:solidFill>
              </a:defRPr>
            </a:pPr>
            <a:r>
              <a:t>  LEWS-REGIONAL-EAST-01 Archival [HISTORICAL]</a:t>
            </a:r>
          </a:p>
          <a:p>
            <a:pPr>
              <a:defRPr b="1" sz="900">
                <a:solidFill>
                  <a:srgbClr val="10B981"/>
                </a:solidFill>
              </a:defRPr>
            </a:pPr>
            <a:r>
              <a:t>• NDMA &amp; C-DOT</a:t>
            </a:r>
          </a:p>
          <a:p>
            <a:pPr>
              <a:defRPr sz="800">
                <a:solidFill>
                  <a:srgbClr val="1E293B"/>
                </a:solidFill>
              </a:defRPr>
            </a:pPr>
            <a:r>
              <a:t>  OASIS CAP v1.2 XML &amp; Safety Interlock [DRY_RUN]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5852160"/>
            <a:ext cx="11094415" cy="438912"/>
          </a:xfrm>
          <a:prstGeom prst="roundRect">
            <a:avLst/>
          </a:prstGeom>
          <a:solidFill>
            <a:srgbClr val="0F172A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38BDF8"/>
                </a:solidFill>
              </a:defRPr>
            </a:pPr>
            <a:r>
              <a:t>🔗 GitHub Repository: silly-fermi  |  📄 Detailed Technical Report: docs/DETAILED_TECHNICAL_REPORT.md  |  🌐 Live API: /api/docs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72A"/>
          </a:solidFill>
          <a:ln w="19050"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4063593" cy="36576"/>
          </a:xfrm>
          <a:prstGeom prst="rect">
            <a:avLst/>
          </a:prstGeom>
          <a:solidFill>
            <a:srgbClr val="FF99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063593" y="969264"/>
            <a:ext cx="4063593" cy="365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127187" y="969264"/>
            <a:ext cx="4064508" cy="36576"/>
          </a:xfrm>
          <a:prstGeom prst="rect">
            <a:avLst/>
          </a:prstGeom>
          <a:solidFill>
            <a:srgbClr val="1288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9728"/>
            <a:ext cx="1109441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38BDF8"/>
                </a:solidFill>
              </a:defRPr>
            </a:pPr>
            <a:r>
              <a:t>SIH 2026 | PS ID: 26001 | MDONER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47472"/>
            <a:ext cx="1109441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FFFFFF"/>
                </a:solidFill>
              </a:defRPr>
            </a:pPr>
            <a:r>
              <a:t>Feasibility and Viability: Pictorial 3-Pillar Architecture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537960"/>
            <a:ext cx="1109441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94A3B8"/>
                </a:solidFill>
              </a:defRPr>
            </a:pPr>
            <a:r>
              <a:t>PARVAT NETRA -- NER Sentinel Decision Intelligence Platform | Ministry of Development of North Eastern Region (MDoNER) | SIH-26001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143000"/>
            <a:ext cx="3474720" cy="3931920"/>
          </a:xfrm>
          <a:prstGeom prst="roundRect">
            <a:avLst/>
          </a:prstGeom>
          <a:solidFill>
            <a:srgbClr val="F0F9FF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284C7"/>
                </a:solidFill>
              </a:defRPr>
            </a:pPr>
            <a:r>
              <a:t>PILLAR 1: SCIENTIFIC FEASIBILITY</a:t>
            </a:r>
          </a:p>
          <a:p>
            <a:pPr>
              <a:defRPr sz="850" b="1">
                <a:solidFill>
                  <a:srgbClr val="64748B"/>
                </a:solidFill>
              </a:defRPr>
            </a:pPr>
            <a:r>
              <a:t>Physics Core | In-Situ Telemetry | InSAR Vectors</a:t>
            </a:r>
          </a:p>
          <a:p>
            <a:pPr>
              <a:defRPr sz="860">
                <a:solidFill>
                  <a:srgbClr val="1E293B"/>
                </a:solidFill>
              </a:defRPr>
            </a:pPr>
            <a:r>
              <a:t>• Physics-First Grounding: Mohr-Coulomb limit equilibrium coupled with Green-Ampt infiltration and van Genuchten SWCC matric suction.</a:t>
            </a:r>
          </a:p>
          <a:p>
            <a:pPr>
              <a:defRPr sz="860">
                <a:solidFill>
                  <a:srgbClr val="1E293B"/>
                </a:solidFill>
              </a:defRPr>
            </a:pPr>
            <a:r>
              <a:t>• Provenance Architecture: Transparent separation of [LIVE] IMD weather, [HISTORICAL] GSI inventories, and [SIMULATED] in-situ sensors.</a:t>
            </a:r>
          </a:p>
          <a:p>
            <a:pPr>
              <a:defRPr sz="860">
                <a:solidFill>
                  <a:srgbClr val="1E293B"/>
                </a:solidFill>
              </a:defRPr>
            </a:pPr>
            <a:r>
              <a:t>• Model Honesty: GBDT Event Classifier [TRAINED_LIMITED_DATA] and physics-informed temporal surrogate [NOT_TRAINED LSTM].</a:t>
            </a:r>
          </a:p>
          <a:p>
            <a:pPr>
              <a:defRPr sz="860">
                <a:solidFill>
                  <a:srgbClr val="1E293B"/>
                </a:solidFill>
              </a:defRPr>
            </a:pPr>
            <a:r>
              <a:t>• Spaceborne Geodesy Roadmap: Copernicus Sentinel-1 PS InSAR creep with upcoming NISAR L-band (24cm) sub-canopy penetration.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58030" y="1143000"/>
            <a:ext cx="3474720" cy="3931920"/>
          </a:xfrm>
          <a:prstGeom prst="roundRect">
            <a:avLst/>
          </a:prstGeom>
          <a:solidFill>
            <a:srgbClr val="F0FDF4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10B981"/>
                </a:solidFill>
              </a:defRPr>
            </a:pPr>
            <a:r>
              <a:t>PILLAR 2: OPERATIONAL VIABILITY</a:t>
            </a:r>
          </a:p>
          <a:p>
            <a:pPr>
              <a:defRPr sz="850" b="1">
                <a:solidFill>
                  <a:srgbClr val="64748B"/>
                </a:solidFill>
              </a:defRPr>
            </a:pPr>
            <a:r>
              <a:t>GSI NLFC | Sachet CAP (ne-IN) | Dual-Key EOC</a:t>
            </a:r>
          </a:p>
          <a:p>
            <a:pPr>
              <a:defRPr sz="860">
                <a:solidFill>
                  <a:srgbClr val="1E293B"/>
                </a:solidFill>
              </a:defRPr>
            </a:pPr>
            <a:r>
              <a:t>• GSI NLFC Bhusanket Node Synchronization: Fully compliant with Regional Node LEWS-REGIONAL-EAST-01 and NLRMS guidelines.</a:t>
            </a:r>
          </a:p>
          <a:p>
            <a:pPr>
              <a:defRPr sz="860">
                <a:solidFill>
                  <a:srgbClr val="1E293B"/>
                </a:solidFill>
              </a:defRPr>
            </a:pPr>
            <a:r>
              <a:t>• Dual-Key Human Authorization: Strict EOC human-in-the-loop review prevents automated sirens (ENABLE_PUBLIC_DISPATCH=0).</a:t>
            </a:r>
          </a:p>
          <a:p>
            <a:pPr>
              <a:defRPr sz="860">
                <a:solidFill>
                  <a:srgbClr val="1E293B"/>
                </a:solidFill>
              </a:defRPr>
            </a:pPr>
            <a:r>
              <a:t>• NDMA Sachet CAP v1.2 XML with Nepali Gap-Fill: Generates 4-language XML (en-IN, hi-IN, ne-IN, as-IN) resolving language gaps in Sikkim.</a:t>
            </a:r>
          </a:p>
          <a:p>
            <a:pPr>
              <a:defRPr sz="860">
                <a:solidFill>
                  <a:srgbClr val="1E293B"/>
                </a:solidFill>
              </a:defRPr>
            </a:pPr>
            <a:r>
              <a:t>• C-DOT Cell Broadcast System (CBS): CH-4370 hardware vibration and siren override ready for verified RED emergencies.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67420" y="1143000"/>
            <a:ext cx="3474720" cy="39319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1E3A8A"/>
                </a:solidFill>
              </a:defRPr>
            </a:pPr>
            <a:r>
              <a:t>PILLAR 3: BUSINESS &amp; DEFENSE SAVINGS</a:t>
            </a:r>
          </a:p>
          <a:p>
            <a:pPr>
              <a:defRPr sz="850" b="1">
                <a:solidFill>
                  <a:srgbClr val="64748B"/>
                </a:solidFill>
              </a:defRPr>
            </a:pPr>
            <a:r>
              <a:t>BRO Swastik SOP | HCII Air-Drop | IRC Freight</a:t>
            </a:r>
          </a:p>
          <a:p>
            <a:pPr>
              <a:defRPr sz="860">
                <a:solidFill>
                  <a:srgbClr val="1E293B"/>
                </a:solidFill>
              </a:defRPr>
            </a:pPr>
            <a:r>
              <a:t>• BRO Project Swastik Pre-Positioning: Automated SOP stages CAT 320D excavators and loaders at 29th Mile / Likhu Veer before slope failure.</a:t>
            </a:r>
          </a:p>
          <a:p>
            <a:pPr>
              <a:defRPr sz="860">
                <a:solidFill>
                  <a:srgbClr val="1E293B"/>
                </a:solidFill>
              </a:defRPr>
            </a:pPr>
            <a:r>
              <a:t>• Humanitarian HCII Air-Drop Staging: Identifies acute habitations (Dzongu HCII = 91.5, Chungthang 66.0) for IAF ALH helicopter delivery.</a:t>
            </a:r>
          </a:p>
          <a:p>
            <a:pPr>
              <a:defRPr sz="860">
                <a:solidFill>
                  <a:srgbClr val="1E293B"/>
                </a:solidFill>
              </a:defRPr>
            </a:pPr>
            <a:r>
              <a:t>• IRC SP:84 Mountain Freight Optimization: Saves ₹85+ Cr annually in wasted fuel, vehicular burnout, and commercial disruption.</a:t>
            </a:r>
          </a:p>
          <a:p>
            <a:pPr>
              <a:defRPr sz="860">
                <a:solidFill>
                  <a:srgbClr val="1E293B"/>
                </a:solidFill>
              </a:defRPr>
            </a:pPr>
            <a:r>
              <a:t>• Replicable Pan-Himalayan Arc: Seamlessly extensible to Uttarakhand Char Dham, Himachal NH-5, and Arunachal frontier axes.</a:t>
            </a:r>
          </a:p>
        </p:txBody>
      </p:sp>
      <p:pic>
        <p:nvPicPr>
          <p:cNvPr id="13" name="Picture 12" descr="pillars_graph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5166360"/>
            <a:ext cx="11094415" cy="1143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72A"/>
          </a:solidFill>
          <a:ln w="19050"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4063593" cy="36576"/>
          </a:xfrm>
          <a:prstGeom prst="rect">
            <a:avLst/>
          </a:prstGeom>
          <a:solidFill>
            <a:srgbClr val="FF99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063593" y="969264"/>
            <a:ext cx="4063593" cy="365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127187" y="969264"/>
            <a:ext cx="4064508" cy="36576"/>
          </a:xfrm>
          <a:prstGeom prst="rect">
            <a:avLst/>
          </a:prstGeom>
          <a:solidFill>
            <a:srgbClr val="1288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9728"/>
            <a:ext cx="1109441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38BDF8"/>
                </a:solidFill>
              </a:defRPr>
            </a:pPr>
            <a:r>
              <a:t>SIH 2026 | PS ID: 26001 | MDONER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47472"/>
            <a:ext cx="1109441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FFFFFF"/>
                </a:solidFill>
              </a:defRPr>
            </a:pPr>
            <a:r>
              <a:t>Quantified National Impact &amp; 'Before vs. After' Benchmark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537960"/>
            <a:ext cx="1109441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94A3B8"/>
                </a:solidFill>
              </a:defRPr>
            </a:pPr>
            <a:r>
              <a:t>PARVAT NETRA -- NER Sentinel Decision Intelligence Platform | Ministry of Development of North Eastern Region (MDoNER) | SIH-26001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143000"/>
            <a:ext cx="4023360" cy="516636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150">
                <a:solidFill>
                  <a:srgbClr val="1E3A8A"/>
                </a:solidFill>
              </a:defRPr>
            </a:pPr>
            <a:r>
              <a:t>4 PILLARS OF NATIONAL IMPACT</a:t>
            </a:r>
          </a:p>
          <a:p>
            <a:pPr>
              <a:defRPr b="1" sz="950">
                <a:solidFill>
                  <a:srgbClr val="10B981"/>
                </a:solidFill>
              </a:defRPr>
            </a:pPr>
            <a:r>
              <a:t>1. Zero Casualties on NH-10</a:t>
            </a:r>
          </a:p>
          <a:p>
            <a:pPr>
              <a:defRPr sz="850">
                <a:solidFill>
                  <a:srgbClr val="1E293B"/>
                </a:solidFill>
              </a:defRPr>
            </a:pPr>
            <a:r>
              <a:t>Predictive 24-48h lead time enables district magistrates to halt civilian traffic well ahead of catastrophic scarp failure.</a:t>
            </a:r>
          </a:p>
          <a:p>
            <a:pPr>
              <a:defRPr b="1" sz="950">
                <a:solidFill>
                  <a:srgbClr val="10B981"/>
                </a:solidFill>
              </a:defRPr>
            </a:pPr>
            <a:r>
              <a:t>2. Logistics Continuity</a:t>
            </a:r>
          </a:p>
          <a:p>
            <a:pPr>
              <a:defRPr sz="850">
                <a:solidFill>
                  <a:srgbClr val="1E293B"/>
                </a:solidFill>
              </a:defRPr>
            </a:pPr>
            <a:r>
              <a:t>IRC SP:84 routing diverts critical 40T supply trucks to Lava-Gorubathan bypass, preventing regional isolation and market panic.</a:t>
            </a:r>
          </a:p>
          <a:p>
            <a:pPr>
              <a:defRPr b="1" sz="950">
                <a:solidFill>
                  <a:srgbClr val="10B981"/>
                </a:solidFill>
              </a:defRPr>
            </a:pPr>
            <a:r>
              <a:t>3. ₹85+ Cr Annual Savings</a:t>
            </a:r>
          </a:p>
          <a:p>
            <a:pPr>
              <a:defRPr sz="850">
                <a:solidFill>
                  <a:srgbClr val="1E293B"/>
                </a:solidFill>
              </a:defRPr>
            </a:pPr>
            <a:r>
              <a:t>Eliminating false alarms and targeted proactive road clearance prevents massive fuel, vehicle wear, and wasted relief funds.</a:t>
            </a:r>
          </a:p>
          <a:p>
            <a:pPr>
              <a:defRPr b="1" sz="950">
                <a:solidFill>
                  <a:srgbClr val="10B981"/>
                </a:solidFill>
              </a:defRPr>
            </a:pPr>
            <a:r>
              <a:t>4. Civil-Military Synergy</a:t>
            </a:r>
          </a:p>
          <a:p>
            <a:pPr>
              <a:defRPr sz="850">
                <a:solidFill>
                  <a:srgbClr val="1E293B"/>
                </a:solidFill>
              </a:defRPr>
            </a:pPr>
            <a:r>
              <a:t>Guarantees Indian Army and BRO 758/764 BRTF logistics convoys are guided with real-time geotechnical corridor clearance.</a:t>
            </a:r>
          </a:p>
        </p:txBody>
      </p:sp>
      <p:pic>
        <p:nvPicPr>
          <p:cNvPr id="11" name="Picture 10" descr="chart_before_af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1143000"/>
            <a:ext cx="6888175" cy="4206240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4754880" y="5486400"/>
            <a:ext cx="2194560" cy="82296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000">
                <a:solidFill>
                  <a:srgbClr val="10B981"/>
                </a:solidFill>
              </a:defRPr>
            </a:pPr>
            <a:r>
              <a:t>+800% Lead Time</a:t>
            </a:r>
          </a:p>
          <a:p>
            <a:pPr>
              <a:defRPr sz="750">
                <a:solidFill>
                  <a:srgbClr val="E2E8F0"/>
                </a:solidFill>
              </a:defRPr>
            </a:pPr>
            <a:r>
              <a:t>2-4h Reactive -&gt; 24-48h Physical Forecast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086600" y="5486400"/>
            <a:ext cx="2194560" cy="82296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000">
                <a:solidFill>
                  <a:srgbClr val="38BDF8"/>
                </a:solidFill>
              </a:defRPr>
            </a:pPr>
            <a:r>
              <a:t>-81% False Alarms</a:t>
            </a:r>
          </a:p>
          <a:p>
            <a:pPr>
              <a:defRPr sz="750">
                <a:solidFill>
                  <a:srgbClr val="E2E8F0"/>
                </a:solidFill>
              </a:defRPr>
            </a:pPr>
            <a:r>
              <a:t>48% Single-Gauge -&gt; 9% Multimodal Fusion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418320" y="5486400"/>
            <a:ext cx="2194560" cy="82296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000">
                <a:solidFill>
                  <a:srgbClr val="D97706"/>
                </a:solidFill>
              </a:defRPr>
            </a:pPr>
            <a:r>
              <a:t>-92% Triage Latency</a:t>
            </a:r>
          </a:p>
          <a:p>
            <a:pPr>
              <a:defRPr sz="750">
                <a:solidFill>
                  <a:srgbClr val="E2E8F0"/>
                </a:solidFill>
              </a:defRPr>
            </a:pPr>
            <a:r>
              <a:t>180m Delay -&gt; 15m BRO Plant Staging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72A"/>
          </a:solidFill>
          <a:ln w="19050"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4063593" cy="36576"/>
          </a:xfrm>
          <a:prstGeom prst="rect">
            <a:avLst/>
          </a:prstGeom>
          <a:solidFill>
            <a:srgbClr val="FF99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063593" y="969264"/>
            <a:ext cx="4063593" cy="365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127187" y="969264"/>
            <a:ext cx="4064508" cy="36576"/>
          </a:xfrm>
          <a:prstGeom prst="rect">
            <a:avLst/>
          </a:prstGeom>
          <a:solidFill>
            <a:srgbClr val="1288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9728"/>
            <a:ext cx="1109441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38BDF8"/>
                </a:solidFill>
              </a:defRPr>
            </a:pPr>
            <a:r>
              <a:t>SIH 2026 | PS ID: 26001 | MDONER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47472"/>
            <a:ext cx="1109441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FFFFFF"/>
                </a:solidFill>
              </a:defRPr>
            </a:pPr>
            <a:r>
              <a:t>Research, References &amp; National Policy Foundations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537960"/>
            <a:ext cx="1109441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94A3B8"/>
                </a:solidFill>
              </a:defRPr>
            </a:pPr>
            <a:r>
              <a:t>PARVAT NETRA -- NER Sentinel Decision Intelligence Platform | Ministry of Development of North Eastern Region (MDoNER) | SIH-26001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143000"/>
            <a:ext cx="5394960" cy="192024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000">
                <a:solidFill>
                  <a:srgbClr val="1E3A8A"/>
                </a:solidFill>
              </a:defRPr>
            </a:pPr>
            <a:r>
              <a:t>🏔️ GSI NATIONAL LANDSLIDE FORECASTING CENTRE (NLFC)</a:t>
            </a:r>
          </a:p>
          <a:p>
            <a:pPr>
              <a:defRPr sz="850">
                <a:solidFill>
                  <a:srgbClr val="1E293B"/>
                </a:solidFill>
              </a:defRPr>
            </a:pPr>
            <a:r>
              <a:t>• GSI NLFC Bhusanket platform (July 2024) &amp; Bhooskhalan regional node sync (LEWS-REGIONAL-EAST-01).</a:t>
            </a:r>
          </a:p>
          <a:p>
            <a:pPr>
              <a:defRPr sz="850">
                <a:solidFill>
                  <a:srgbClr val="1E293B"/>
                </a:solidFill>
              </a:defRPr>
            </a:pPr>
            <a:r>
              <a:t>• Mohr-Coulomb limit equilibrium model extended with van Genuchten (1980) SWCC matric suction.</a:t>
            </a:r>
          </a:p>
          <a:p>
            <a:pPr>
              <a:defRPr sz="850">
                <a:solidFill>
                  <a:srgbClr val="1E293B"/>
                </a:solidFill>
              </a:defRPr>
            </a:pPr>
            <a:r>
              <a:t>• Calibrated to Lesser Himalaya Daling group phyllite and weathered gneiss colluvium.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143000"/>
            <a:ext cx="5394960" cy="192024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000">
                <a:solidFill>
                  <a:srgbClr val="1E3A8A"/>
                </a:solidFill>
              </a:defRPr>
            </a:pPr>
            <a:r>
              <a:t>🛰️ CORRIDOR RAINFALL ENSEMBLE &amp; RADAR DEFORMATION</a:t>
            </a:r>
          </a:p>
          <a:p>
            <a:pPr>
              <a:defRPr sz="850">
                <a:solidFill>
                  <a:srgbClr val="1E293B"/>
                </a:solidFill>
              </a:defRPr>
            </a:pPr>
            <a:r>
              <a:t>• Mandal &amp; Sarkar (2021) North Sikkim I-D threshold (I = 4.045 D^-0.25) &amp; Froehlich 130mm/24h cumulative buffer.</a:t>
            </a:r>
          </a:p>
          <a:p>
            <a:pPr>
              <a:defRPr sz="850">
                <a:solidFill>
                  <a:srgbClr val="1E293B"/>
                </a:solidFill>
              </a:defRPr>
            </a:pPr>
            <a:r>
              <a:t>• Copernicus Sentinel-1 Persistent Scatterer InSAR + NISAR L-band (24cm) sub-canopy deformation vectors.</a:t>
            </a:r>
          </a:p>
          <a:p>
            <a:pPr>
              <a:defRPr sz="850">
                <a:solidFill>
                  <a:srgbClr val="1E293B"/>
                </a:solidFill>
              </a:defRPr>
            </a:pPr>
            <a:r>
              <a:t>• IEEE Landslide4Sense U-Net deep learning multi-spectral scar segmentation.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154680"/>
            <a:ext cx="5394960" cy="192024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000">
                <a:solidFill>
                  <a:srgbClr val="1E3A8A"/>
                </a:solidFill>
              </a:defRPr>
            </a:pPr>
            <a:r>
              <a:t>📡 NDMA SACHET CAP V1.2 XML &amp; C-DOT CBS CH-4370</a:t>
            </a:r>
          </a:p>
          <a:p>
            <a:pPr>
              <a:defRPr sz="850">
                <a:solidFill>
                  <a:srgbClr val="1E293B"/>
                </a:solidFill>
              </a:defRPr>
            </a:pPr>
            <a:r>
              <a:t>• NDMA National Disaster Early Warning Architecture: OASIS CAP v1.2 XML with 4-language matrix (en, hi, ne, as).</a:t>
            </a:r>
          </a:p>
          <a:p>
            <a:pPr>
              <a:defRPr sz="850">
                <a:solidFill>
                  <a:srgbClr val="1E293B"/>
                </a:solidFill>
              </a:defRPr>
            </a:pPr>
            <a:r>
              <a:t>• C-DOT Cell Broadcast System (CBS): CH-4370 Extreme Threat mandatory hardware siren &amp; DND override.</a:t>
            </a:r>
          </a:p>
          <a:p>
            <a:pPr>
              <a:defRPr sz="850">
                <a:solidFill>
                  <a:srgbClr val="1E293B"/>
                </a:solidFill>
              </a:defRPr>
            </a:pPr>
            <a:r>
              <a:t>• Resolves official regional language omission by delivering real-time Nepali (ne-IN) voice alerts.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3154680"/>
            <a:ext cx="5394960" cy="192024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000">
                <a:solidFill>
                  <a:srgbClr val="1E3A8A"/>
                </a:solidFill>
              </a:defRPr>
            </a:pPr>
            <a:r>
              <a:t>🌊 POST-GLOF HYDRODYNAMICS &amp; BRO SWASTIK SOP</a:t>
            </a:r>
          </a:p>
          <a:p>
            <a:pPr>
              <a:defRPr sz="850">
                <a:solidFill>
                  <a:srgbClr val="1E293B"/>
                </a:solidFill>
              </a:defRPr>
            </a:pPr>
            <a:r>
              <a:t>• Oct 2023 South Lhonak GLOF: 6.5m bed aggradation, hydrodynamic basal shear scour degrading passive Pp by 96.0%.</a:t>
            </a:r>
          </a:p>
          <a:p>
            <a:pPr>
              <a:defRPr sz="850">
                <a:solidFill>
                  <a:srgbClr val="1E293B"/>
                </a:solidFill>
              </a:defRPr>
            </a:pPr>
            <a:r>
              <a:t>• BRO Project Swastik Doctrine: Tactical plant staging SOP (758 &amp; 764 BRTF) at 29th Mile &amp; Likhu Veer.</a:t>
            </a:r>
          </a:p>
          <a:p>
            <a:pPr>
              <a:defRPr sz="850">
                <a:solidFill>
                  <a:srgbClr val="1E293B"/>
                </a:solidFill>
              </a:defRPr>
            </a:pPr>
            <a:r>
              <a:t>• IRC SP:84 / SP:48 Mountain Highway Code: Effective grade G_eff = G - 75/R and MoRTH GVW freight routing.</a:t>
            </a:r>
          </a:p>
        </p:txBody>
      </p:sp>
      <p:pic>
        <p:nvPicPr>
          <p:cNvPr id="14" name="Picture 13" descr="policy_badg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5166360"/>
            <a:ext cx="11094415" cy="1143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72A"/>
          </a:solidFill>
          <a:ln w="19050"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4063593" cy="36576"/>
          </a:xfrm>
          <a:prstGeom prst="rect">
            <a:avLst/>
          </a:prstGeom>
          <a:solidFill>
            <a:srgbClr val="FF99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063593" y="969264"/>
            <a:ext cx="4063593" cy="365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127187" y="969264"/>
            <a:ext cx="4064508" cy="36576"/>
          </a:xfrm>
          <a:prstGeom prst="rect">
            <a:avLst/>
          </a:prstGeom>
          <a:solidFill>
            <a:srgbClr val="1288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9728"/>
            <a:ext cx="1109441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38BDF8"/>
                </a:solidFill>
              </a:defRPr>
            </a:pPr>
            <a:r>
              <a:t>SIH 2026 | PS ID: 26001 | MDONER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47472"/>
            <a:ext cx="1109441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FFFFFF"/>
                </a:solidFill>
              </a:defRPr>
            </a:pPr>
            <a:r>
              <a:t>Operational UI Gallery: National Headquarters &amp; GIS Console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537960"/>
            <a:ext cx="1109441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94A3B8"/>
                </a:solidFill>
              </a:defRPr>
            </a:pPr>
            <a:r>
              <a:t>PARVAT NETRA -- NER Sentinel Decision Intelligence Platform | Ministry of Development of North Eastern Region (MDoNER) | SIH-26001</a:t>
            </a:r>
          </a:p>
        </p:txBody>
      </p:sp>
      <p:pic>
        <p:nvPicPr>
          <p:cNvPr id="10" name="Picture 9" descr="01_executive_operations_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88720"/>
            <a:ext cx="5394960" cy="4114800"/>
          </a:xfrm>
          <a:prstGeom prst="rect">
            <a:avLst/>
          </a:prstGeom>
        </p:spPr>
      </p:pic>
      <p:pic>
        <p:nvPicPr>
          <p:cNvPr id="11" name="Picture 10" descr="02_multimodal_gis_conso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188720"/>
            <a:ext cx="5394960" cy="4114800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548640" y="5440680"/>
            <a:ext cx="5394960" cy="914400"/>
          </a:xfrm>
          <a:prstGeom prst="roundRect">
            <a:avLst/>
          </a:prstGeom>
          <a:solidFill>
            <a:srgbClr val="0F172A"/>
          </a:solidFill>
          <a:ln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950">
                <a:solidFill>
                  <a:srgbClr val="38BDF8"/>
                </a:solidFill>
              </a:defRPr>
            </a:pPr>
            <a:r>
              <a:t>EXECUTIVE OPERATIONS DASHBOARD (GIGW 3.0 STANDARD)</a:t>
            </a:r>
          </a:p>
          <a:p>
            <a:pPr>
              <a:defRPr sz="819">
                <a:solidFill>
                  <a:srgbClr val="E2E8F0"/>
                </a:solidFill>
              </a:defRPr>
            </a:pPr>
            <a:r>
              <a:t>Badges: [GIGW 3.0 Standard] [Live IMD Weather Sync] [In-Situ Geotech: SIMULATED] [Dual-Key Safety Review]. Bilingual accessible console engineered to national governance standards.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5440680"/>
            <a:ext cx="5394960" cy="914400"/>
          </a:xfrm>
          <a:prstGeom prst="roundRect">
            <a:avLst/>
          </a:prstGeom>
          <a:solidFill>
            <a:srgbClr val="0F172A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950">
                <a:solidFill>
                  <a:srgbClr val="10B981"/>
                </a:solidFill>
              </a:defRPr>
            </a:pPr>
            <a:r>
              <a:t>MULTIMODAL GIS SPATIAL SENTINEL CONSOLE</a:t>
            </a:r>
          </a:p>
          <a:p>
            <a:pPr>
              <a:defRPr sz="819">
                <a:solidFill>
                  <a:srgbClr val="E2E8F0"/>
                </a:solidFill>
              </a:defRPr>
            </a:pPr>
            <a:r>
              <a:t>Badges: [500m PostGIS Road Buffer] [In-Situ Nodes: SIMULATED] [InSAR Radar Vectors]. High-contrast interactive Leaflet GIS with dynamic detour routing.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72A"/>
          </a:solidFill>
          <a:ln w="19050"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4063593" cy="36576"/>
          </a:xfrm>
          <a:prstGeom prst="rect">
            <a:avLst/>
          </a:prstGeom>
          <a:solidFill>
            <a:srgbClr val="FF99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063593" y="969264"/>
            <a:ext cx="4063593" cy="365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127187" y="969264"/>
            <a:ext cx="4064508" cy="36576"/>
          </a:xfrm>
          <a:prstGeom prst="rect">
            <a:avLst/>
          </a:prstGeom>
          <a:solidFill>
            <a:srgbClr val="1288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9728"/>
            <a:ext cx="1109441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38BDF8"/>
                </a:solidFill>
              </a:defRPr>
            </a:pPr>
            <a:r>
              <a:t>SIH 2026 | PS ID: 26001 | MDONER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47472"/>
            <a:ext cx="1109441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FFFFFF"/>
                </a:solidFill>
              </a:defRPr>
            </a:pPr>
            <a:r>
              <a:t>Operational UI Gallery: Indigenous CAP Audio &amp; Field Triage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537960"/>
            <a:ext cx="1109441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94A3B8"/>
                </a:solidFill>
              </a:defRPr>
            </a:pPr>
            <a:r>
              <a:t>PARVAT NETRA -- NER Sentinel Decision Intelligence Platform | Ministry of Development of North Eastern Region (MDoNER) | SIH-26001</a:t>
            </a:r>
          </a:p>
        </p:txBody>
      </p:sp>
      <p:pic>
        <p:nvPicPr>
          <p:cNvPr id="10" name="Picture 9" descr="03_bilingual_indigenous_voice_cap_mod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88720"/>
            <a:ext cx="5394960" cy="4114800"/>
          </a:xfrm>
          <a:prstGeom prst="rect">
            <a:avLst/>
          </a:prstGeom>
        </p:spPr>
      </p:pic>
      <p:pic>
        <p:nvPicPr>
          <p:cNvPr id="11" name="Picture 10" descr="02_multimodal_gis_conso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188720"/>
            <a:ext cx="5394960" cy="4114800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548640" y="5440680"/>
            <a:ext cx="5394960" cy="914400"/>
          </a:xfrm>
          <a:prstGeom prst="roundRect">
            <a:avLst/>
          </a:prstGeom>
          <a:solidFill>
            <a:srgbClr val="0F172A"/>
          </a:solidFill>
          <a:ln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950">
                <a:solidFill>
                  <a:srgbClr val="D97706"/>
                </a:solidFill>
              </a:defRPr>
            </a:pPr>
            <a:r>
              <a:t>INDIGENOUS CAP AUDIO BROADCAST MODAL</a:t>
            </a:r>
          </a:p>
          <a:p>
            <a:pPr>
              <a:defRPr sz="819">
                <a:solidFill>
                  <a:srgbClr val="E2E8F0"/>
                </a:solidFill>
              </a:defRPr>
            </a:pPr>
            <a:r>
              <a:t>Badges: [4-Language Indigenous Matrix (EN, HI, NE, AS)] [Web Speech Audio TTS]. Immediate synthesized vernacular speech for hands-free driver and tribal safety.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5440680"/>
            <a:ext cx="5394960" cy="914400"/>
          </a:xfrm>
          <a:prstGeom prst="roundRect">
            <a:avLst/>
          </a:prstGeom>
          <a:solidFill>
            <a:srgbClr val="0F172A"/>
          </a:solidFill>
          <a:ln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950">
                <a:solidFill>
                  <a:srgbClr val="38BDF8"/>
                </a:solidFill>
              </a:defRPr>
            </a:pPr>
            <a:r>
              <a:t>EDGE COMPUTER VISION DISTRESS TRIAGE &amp; CLUSTERING</a:t>
            </a:r>
          </a:p>
          <a:p>
            <a:pPr>
              <a:defRPr sz="819">
                <a:solidFill>
                  <a:srgbClr val="E2E8F0"/>
                </a:solidFill>
              </a:defRPr>
            </a:pPr>
            <a:r>
              <a:t>Badges: [PostGIS DBSCAN Spatial Clusters] [Edge CV Crack Triage (Aperture mm)]. Eliminates crowdsource noise and groups citizen fissures into BRO patrol targets.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