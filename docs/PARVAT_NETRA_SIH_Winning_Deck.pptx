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4063593" cy="36576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593" y="969264"/>
            <a:ext cx="4063593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187" y="969264"/>
            <a:ext cx="4064508" cy="36576"/>
          </a:xfrm>
          <a:prstGeom prst="rect">
            <a:avLst/>
          </a:prstGeom>
          <a:solidFill>
            <a:srgbClr val="1288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SMART INDIA HACKATHON 2026 | MINISTRY OF DEVELOPMENT OF NORTH EASTERN REGION (MDONER)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47472"/>
            <a:ext cx="110944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PARVAT NETRA (पर्वत नेत्रा) -- National Landslide Intelligence Platform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37960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PARVAT NETRA -- NER Sentinel Decision Intelligence Platform | Ministry of Development of North Eastern Region (MDoNER) | SIH-26001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143000"/>
            <a:ext cx="8961120" cy="1097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E3A8A"/>
                </a:solidFill>
              </a:defRPr>
            </a:pPr>
            <a:r>
              <a:t>AI-Based Landslide Early Warning, Geotechnical Fusion &amp; Lifeline Mitigation System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Autonomous national disaster-intelligence platform correlating physical Mohr-Coulomb geotechnical mechanics, satellite InSAR, real-time IoT vadose infiltration, and dynamic emergency bypass logistics along the vital NH-10 corridor.</a:t>
            </a:r>
          </a:p>
        </p:txBody>
      </p:sp>
      <p:pic>
        <p:nvPicPr>
          <p:cNvPr id="11" name="Picture 10" descr="sentinel_em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1097280"/>
            <a:ext cx="1920240" cy="1920240"/>
          </a:xfrm>
          <a:prstGeom prst="rect">
            <a:avLst/>
          </a:prstGeom>
        </p:spPr>
      </p:pic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2377440"/>
          <a:ext cx="8961120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6400800"/>
              </a:tblGrid>
              <a:tr h="56823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</a:defRPr>
                      </a:pPr>
                      <a:r>
                        <a:t>Problem Statement ID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26001 (Smart India Hackathon 2026)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</a:defRPr>
                      </a:pPr>
                      <a:r>
                        <a:t>Organization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Ministry of Development of North Eastern Region (MDoNER)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</a:defRPr>
                      </a:pPr>
                      <a:r>
                        <a:t>Problem Title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Development of an AI-Based Landslide Early Warning and Risk Mitigation System for North Eastern Region (NER)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</a:defRPr>
                      </a:pPr>
                      <a:r>
                        <a:t>Focus Corridor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NH-10 Arterial Highway, Teesta River Valley (Sikkim–Kalimpong)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</a:defRPr>
                      </a:pPr>
                      <a:r>
                        <a:t>PS Category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Software / Enterprise Geotechnical Geospatial AI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</a:defRPr>
                      </a:pPr>
                      <a:r>
                        <a:t>Framework Standards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NDMA CAP v1.2 | GIGW 3.0 | ISRO Bhuvan WMS / GSI NLSM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8235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</a:defRPr>
                      </a:pPr>
                      <a:r>
                        <a:t>Team Name &amp; ID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Team NER-SENTINEL (Team ID: SIH-2026-PS26001-ALPHA)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9692640" y="3154680"/>
            <a:ext cx="1950415" cy="32004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00">
                <a:solidFill>
                  <a:srgbClr val="1E3A8A"/>
                </a:solidFill>
              </a:defRPr>
            </a:pPr>
            <a:r>
              <a:t>SIH 2026 INVARIANTS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5-Modality AI Fusion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Sub-50ms PostGIS 3.6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36h Predictive Lead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Automated Bypass Routing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4-Language Voice CAP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GIGW 3.0 Accessible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4063593" cy="36576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593" y="969264"/>
            <a:ext cx="4063593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187" y="969264"/>
            <a:ext cx="4064508" cy="36576"/>
          </a:xfrm>
          <a:prstGeom prst="rect">
            <a:avLst/>
          </a:prstGeom>
          <a:solidFill>
            <a:srgbClr val="1288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SIH 2026 | PS ID: 26001 | MDONER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47472"/>
            <a:ext cx="110944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Real-World Problem, Strategic Solution &amp; Core Value Architecture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37960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PARVAT NETRA -- NER Sentinel Decision Intelligence Platform | Ministry of Development of North Eastern Region (MDoNER) | SIH-26001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143000"/>
            <a:ext cx="3474720" cy="38404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50">
                <a:solidFill>
                  <a:srgbClr val="DC2626"/>
                </a:solidFill>
              </a:defRPr>
            </a:pPr>
            <a:r>
              <a:t>REAL-WORLD PROBLEM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Strategic NH-10 severed 40+ days/year by post-GLOF toe scour &amp; steep slope cuts.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Oct 2023 South Lhonak GLOF caused +6.5m bed aggradation &amp; severe hydraulic shear (tau_b = 6000 Pa).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Teesta hydraulic toe erosion degrades passive resistance Pp by 96.0% (773 -&gt; 31 kN/m), dropping FS to 0.928 (RED).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Saturated colluvium drops Gangtok FS to 0.745; unreinforced cuts (&gt;60 deg) amplify risk by 1.15x.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Conventional single-rain alerts produce 48% false alarms; ₹450 Cr trade loss &amp; severed military lifelines.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58030" y="1143000"/>
            <a:ext cx="3474720" cy="384048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50">
                <a:solidFill>
                  <a:srgbClr val="10B981"/>
                </a:solidFill>
              </a:defRPr>
            </a:pPr>
            <a:r>
              <a:t>PROPOSED SOLUTION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5-Modality Physics Fusion: van Genuchten SWCC matric suction + Green-Ampt infiltration + Mohr-Coulomb limit equilibrium.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Hydrodynamic Toe Scour Coupling: Quantifies river stage, basal shear &amp; passive resistance degradation.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IRC SP:84 Freight Optimization: 40T convoys routed via Lava (+2.5h, 45T limit) avoiding Mungpoo (6.5% grade, 33.8h penalty).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Humanitarian HCII Matrix: Monitors food/fuel depletion and air-drop triage across 4 GLOF settlements.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GSI NLFC &amp; C-DOT CBS Integration: OASIS CAP v1.2 XML with ne-IN gap-fill + CH-4370 hardware siren override.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68335" y="1143000"/>
            <a:ext cx="3474720" cy="38404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50">
                <a:solidFill>
                  <a:srgbClr val="1E3A8A"/>
                </a:solidFill>
              </a:defRPr>
            </a:pPr>
            <a:r>
              <a:t>RISK VS. SOLUTION PAIRS</a:t>
            </a:r>
          </a:p>
          <a:p>
            <a:pPr>
              <a:defRPr sz="850" b="1">
                <a:solidFill>
                  <a:srgbClr val="DC2626"/>
                </a:solidFill>
              </a:defRPr>
            </a:pPr>
            <a:r>
              <a:t>❌ Black-Box Heuristic Alerts</a:t>
            </a:r>
          </a:p>
          <a:p>
            <a:pPr>
              <a:defRPr sz="819">
                <a:solidFill>
                  <a:srgbClr val="1E293B"/>
                </a:solidFill>
              </a:defRPr>
            </a:pPr>
            <a:r>
              <a:t>✔️ Physical FoS (Gangtok 0.745, Teesta 0.928) with 100% explainable soil physics.</a:t>
            </a:r>
          </a:p>
          <a:p>
            <a:pPr>
              <a:defRPr sz="850" b="1">
                <a:solidFill>
                  <a:srgbClr val="DC2626"/>
                </a:solidFill>
              </a:defRPr>
            </a:pPr>
            <a:r>
              <a:t>❌ Reactionary Mountain Gridlock</a:t>
            </a:r>
          </a:p>
          <a:p>
            <a:pPr>
              <a:defRPr sz="819">
                <a:solidFill>
                  <a:srgbClr val="1E293B"/>
                </a:solidFill>
              </a:defRPr>
            </a:pPr>
            <a:r>
              <a:t>✔️ Automated Lava Freight Detour: 45T rated with zero gradient penalty.</a:t>
            </a:r>
          </a:p>
          <a:p>
            <a:pPr>
              <a:defRPr sz="850" b="1">
                <a:solidFill>
                  <a:srgbClr val="DC2626"/>
                </a:solidFill>
              </a:defRPr>
            </a:pPr>
            <a:r>
              <a:t>❌ Unreached Vernacular Hamlets</a:t>
            </a:r>
          </a:p>
          <a:p>
            <a:pPr>
              <a:defRPr sz="819">
                <a:solidFill>
                  <a:srgbClr val="1E293B"/>
                </a:solidFill>
              </a:defRPr>
            </a:pPr>
            <a:r>
              <a:t>✔️ Sachet CAP v1.2 XML with Nepali (ne-IN) and C-DOT CH-4370 hardware override.</a:t>
            </a:r>
          </a:p>
        </p:txBody>
      </p:sp>
      <p:pic>
        <p:nvPicPr>
          <p:cNvPr id="13" name="Picture 12" descr="problem_solution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74920"/>
            <a:ext cx="5394960" cy="86868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217920" y="5120640"/>
            <a:ext cx="2651760" cy="384048"/>
          </a:xfrm>
          <a:prstGeom prst="roundRect">
            <a:avLst/>
          </a:prstGeom>
          <a:solidFill>
            <a:srgbClr val="1E3A8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850" b="1"/>
            </a:pPr>
            <a:r>
              <a:t>Live Portal: http://localhost:8080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91295" y="5120640"/>
            <a:ext cx="2651760" cy="384048"/>
          </a:xfrm>
          <a:prstGeom prst="roundRect">
            <a:avLst/>
          </a:prstGeom>
          <a:solidFill>
            <a:srgbClr val="0284C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850" b="1"/>
            </a:pPr>
            <a:r>
              <a:t>Video Demo Walkthrough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4063593" cy="36576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593" y="969264"/>
            <a:ext cx="4063593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187" y="969264"/>
            <a:ext cx="4064508" cy="36576"/>
          </a:xfrm>
          <a:prstGeom prst="rect">
            <a:avLst/>
          </a:prstGeom>
          <a:solidFill>
            <a:srgbClr val="1288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SIH 2026 | PS ID: 26001 | MDONER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47472"/>
            <a:ext cx="110944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Technical Approach, Methodology Pipeline &amp; Architecture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37960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PARVAT NETRA -- NER Sentinel Decision Intelligence Platform | Ministry of Development of North Eastern Region (MDoNER) | SIH-26001</a:t>
            </a:r>
          </a:p>
        </p:txBody>
      </p:sp>
      <p:pic>
        <p:nvPicPr>
          <p:cNvPr id="10" name="Picture 9" descr="flowchart_methodo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3474720" cy="4572000"/>
          </a:xfrm>
          <a:prstGeom prst="rect">
            <a:avLst/>
          </a:prstGeom>
        </p:spPr>
      </p:pic>
      <p:pic>
        <p:nvPicPr>
          <p:cNvPr id="11" name="Picture 10" descr="architecture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1143000"/>
            <a:ext cx="4937760" cy="457200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9326880" y="1143000"/>
            <a:ext cx="2316175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1E3A8A"/>
                </a:solidFill>
              </a:defRPr>
            </a:pPr>
            <a:r>
              <a:t>CORE TECH STACK</a:t>
            </a:r>
          </a:p>
          <a:p>
            <a:pPr>
              <a:defRPr b="1" sz="900">
                <a:solidFill>
                  <a:srgbClr val="10B981"/>
                </a:solidFill>
              </a:defRPr>
            </a:pPr>
            <a:r>
              <a:t>• Python 3.11</a:t>
            </a:r>
          </a:p>
          <a:p>
            <a:pPr>
              <a:defRPr sz="800">
                <a:solidFill>
                  <a:srgbClr val="1E293B"/>
                </a:solidFill>
              </a:defRPr>
            </a:pPr>
            <a:r>
              <a:t>  van Genuchten SWCC &amp; Green-Ampt Core</a:t>
            </a:r>
          </a:p>
          <a:p>
            <a:pPr>
              <a:defRPr b="1" sz="900">
                <a:solidFill>
                  <a:srgbClr val="10B981"/>
                </a:solidFill>
              </a:defRPr>
            </a:pPr>
            <a:r>
              <a:t>• Neon PostGIS 3.6</a:t>
            </a:r>
          </a:p>
          <a:p>
            <a:pPr>
              <a:defRPr sz="800">
                <a:solidFill>
                  <a:srgbClr val="1E293B"/>
                </a:solidFill>
              </a:defRPr>
            </a:pPr>
            <a:r>
              <a:t>  Serverless Spatial GiST &amp; DBSCAN</a:t>
            </a:r>
          </a:p>
          <a:p>
            <a:pPr>
              <a:defRPr b="1" sz="900">
                <a:solidFill>
                  <a:srgbClr val="10B981"/>
                </a:solidFill>
              </a:defRPr>
            </a:pPr>
            <a:r>
              <a:t>• GSI NLFC Sync</a:t>
            </a:r>
          </a:p>
          <a:p>
            <a:pPr>
              <a:defRPr sz="800">
                <a:solidFill>
                  <a:srgbClr val="1E293B"/>
                </a:solidFill>
              </a:defRPr>
            </a:pPr>
            <a:r>
              <a:t>  Node LEWS-REGIONAL-EAST-01</a:t>
            </a:r>
          </a:p>
          <a:p>
            <a:pPr>
              <a:defRPr b="1" sz="900">
                <a:solidFill>
                  <a:srgbClr val="10B981"/>
                </a:solidFill>
              </a:defRPr>
            </a:pPr>
            <a:r>
              <a:t>• Sentinel &amp; NISAR</a:t>
            </a:r>
          </a:p>
          <a:p>
            <a:pPr>
              <a:defRPr sz="800">
                <a:solidFill>
                  <a:srgbClr val="1E293B"/>
                </a:solidFill>
              </a:defRPr>
            </a:pPr>
            <a:r>
              <a:t>  InSAR PS Creep &amp; L-Band Penetration</a:t>
            </a:r>
          </a:p>
          <a:p>
            <a:pPr>
              <a:defRPr b="1" sz="900">
                <a:solidFill>
                  <a:srgbClr val="10B981"/>
                </a:solidFill>
              </a:defRPr>
            </a:pPr>
            <a:r>
              <a:t>• NDMA &amp; C-DOT</a:t>
            </a:r>
          </a:p>
          <a:p>
            <a:pPr>
              <a:defRPr sz="800">
                <a:solidFill>
                  <a:srgbClr val="1E293B"/>
                </a:solidFill>
              </a:defRPr>
            </a:pPr>
            <a:r>
              <a:t>  OASIS CAP v1.2 XML &amp; CBS CH-4370</a:t>
            </a:r>
          </a:p>
          <a:p>
            <a:pPr>
              <a:defRPr b="1" sz="900">
                <a:solidFill>
                  <a:srgbClr val="10B981"/>
                </a:solidFill>
              </a:defRPr>
            </a:pPr>
            <a:r>
              <a:t>• BRO Swastik SOP</a:t>
            </a:r>
          </a:p>
          <a:p>
            <a:pPr>
              <a:defRPr sz="800">
                <a:solidFill>
                  <a:srgbClr val="1E293B"/>
                </a:solidFill>
              </a:defRPr>
            </a:pPr>
            <a:r>
              <a:t>  758/764 BRTF Tactical Staging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852160"/>
            <a:ext cx="11094415" cy="438912"/>
          </a:xfrm>
          <a:prstGeom prst="roundRect">
            <a:avLst/>
          </a:prstGeom>
          <a:solidFill>
            <a:srgbClr val="0F172A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38BDF8"/>
                </a:solidFill>
              </a:defRPr>
            </a:pPr>
            <a:r>
              <a:t>🔗 GitHub Repository: silly-fermi  |  📄 Detailed Technical Report: docs/DETAILED_TECHNICAL_REPORT.md  |  🌐 Live API: /api/docs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4063593" cy="36576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593" y="969264"/>
            <a:ext cx="4063593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187" y="969264"/>
            <a:ext cx="4064508" cy="36576"/>
          </a:xfrm>
          <a:prstGeom prst="rect">
            <a:avLst/>
          </a:prstGeom>
          <a:solidFill>
            <a:srgbClr val="1288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SIH 2026 | PS ID: 26001 | MDONER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47472"/>
            <a:ext cx="110944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Feasibility and Viability: Pictorial 3-Pillar Architecture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37960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PARVAT NETRA -- NER Sentinel Decision Intelligence Platform | Ministry of Development of North Eastern Region (MDoNER) | SIH-26001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143000"/>
            <a:ext cx="3474720" cy="393192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284C7"/>
                </a:solidFill>
              </a:defRPr>
            </a:pPr>
            <a:r>
              <a:t>PILLAR 1: FEASIBILITY ANALYSIS</a:t>
            </a:r>
          </a:p>
          <a:p>
            <a:pPr>
              <a:defRPr sz="850" b="1">
                <a:solidFill>
                  <a:srgbClr val="64748B"/>
                </a:solidFill>
              </a:defRPr>
            </a:pPr>
            <a:r>
              <a:t>Zero Sat Cost | Solar IoT | NISAR L-Band</a:t>
            </a:r>
          </a:p>
          <a:p>
            <a:pPr>
              <a:defRPr sz="860">
                <a:solidFill>
                  <a:srgbClr val="1E293B"/>
                </a:solidFill>
              </a:defRPr>
            </a:pPr>
            <a:r>
              <a:t>• Zero New Satellite Expenditure: Harnesses existing ESA Copernicus Sentinel-1 SAR dry-season passes with NISAR L-band (24cm) canopy penetration roadmap.</a:t>
            </a:r>
          </a:p>
          <a:p>
            <a:pPr>
              <a:defRPr sz="860">
                <a:solidFill>
                  <a:srgbClr val="1E293B"/>
                </a:solidFill>
              </a:defRPr>
            </a:pPr>
            <a:r>
              <a:t>• Solar 12V Low-Power Geotechnical Nodes: Piezometers, VWC probes and MEMS inclinometers running on 10W solar panels with 14-day battery buffers.</a:t>
            </a:r>
          </a:p>
          <a:p>
            <a:pPr>
              <a:defRPr sz="860">
                <a:solidFill>
                  <a:srgbClr val="1E293B"/>
                </a:solidFill>
              </a:defRPr>
            </a:pPr>
            <a:r>
              <a:t>• Offline SQLite Field Cache: Mobile disaster apps operate in zero-connectivity gorge shadows, syncing automatically on connectivity return.</a:t>
            </a:r>
          </a:p>
          <a:p>
            <a:pPr>
              <a:defRPr sz="860">
                <a:solidFill>
                  <a:srgbClr val="1E293B"/>
                </a:solidFill>
              </a:defRPr>
            </a:pPr>
            <a:r>
              <a:t>• Elastic Neon PostGIS: Sub-50ms spatial queries across highway nodes without costly fixed on-prem infrastructure.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58030" y="1143000"/>
            <a:ext cx="3474720" cy="393192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PILLAR 2: OPERATIONAL VIABILITY</a:t>
            </a:r>
          </a:p>
          <a:p>
            <a:pPr>
              <a:defRPr sz="850" b="1">
                <a:solidFill>
                  <a:srgbClr val="64748B"/>
                </a:solidFill>
              </a:defRPr>
            </a:pPr>
            <a:r>
              <a:t>GSI NLFC | Sachet CAP (ne-IN) | C-DOT CBS</a:t>
            </a:r>
          </a:p>
          <a:p>
            <a:pPr>
              <a:defRPr sz="860">
                <a:solidFill>
                  <a:srgbClr val="1E293B"/>
                </a:solidFill>
              </a:defRPr>
            </a:pPr>
            <a:r>
              <a:t>• GSI NLFC Bhusanket Node Synchronization: Fully compliant with Regional Node LEWS-REGIONAL-EAST-01 and NLRMS guidelines.</a:t>
            </a:r>
          </a:p>
          <a:p>
            <a:pPr>
              <a:defRPr sz="860">
                <a:solidFill>
                  <a:srgbClr val="1E293B"/>
                </a:solidFill>
              </a:defRPr>
            </a:pPr>
            <a:r>
              <a:t>• NDMA Sachet CAP v1.2 XML with Nepali Gap-Fill: Generates 4-language XML (en-IN, hi-IN, ne-IN, as-IN) resolving official language omission in Sikkim.</a:t>
            </a:r>
          </a:p>
          <a:p>
            <a:pPr>
              <a:defRPr sz="860">
                <a:solidFill>
                  <a:srgbClr val="1E293B"/>
                </a:solidFill>
              </a:defRPr>
            </a:pPr>
            <a:r>
              <a:t>• C-DOT Cell Broadcast System (CBS): CH-4370 hardware vibration and siren override for RED alerts (bypasses DND).</a:t>
            </a:r>
          </a:p>
          <a:p>
            <a:pPr>
              <a:defRPr sz="860">
                <a:solidFill>
                  <a:srgbClr val="1E293B"/>
                </a:solidFill>
              </a:defRPr>
            </a:pPr>
            <a:r>
              <a:t>• Explainable Physics Attribution: Transparent FoS, SWCC matric suction, and rainfall threshold breakdown prevents black-box hesitation.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67420" y="1143000"/>
            <a:ext cx="3474720" cy="3931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E3A8A"/>
                </a:solidFill>
              </a:defRPr>
            </a:pPr>
            <a:r>
              <a:t>PILLAR 3: BUSINESS &amp; DEFENSE SAVINGS</a:t>
            </a:r>
          </a:p>
          <a:p>
            <a:pPr>
              <a:defRPr sz="850" b="1">
                <a:solidFill>
                  <a:srgbClr val="64748B"/>
                </a:solidFill>
              </a:defRPr>
            </a:pPr>
            <a:r>
              <a:t>BRO Swastik SOP | HCII Air-Drop | IRC Freight</a:t>
            </a:r>
          </a:p>
          <a:p>
            <a:pPr>
              <a:defRPr sz="860">
                <a:solidFill>
                  <a:srgbClr val="1E293B"/>
                </a:solidFill>
              </a:defRPr>
            </a:pPr>
            <a:r>
              <a:t>• BRO Project Swastik Pre-Positioning: Automated SOP stages CAT 320D excavators and loaders at 29th Mile / Likhu Veer before slope failure.</a:t>
            </a:r>
          </a:p>
          <a:p>
            <a:pPr>
              <a:defRPr sz="860">
                <a:solidFill>
                  <a:srgbClr val="1E293B"/>
                </a:solidFill>
              </a:defRPr>
            </a:pPr>
            <a:r>
              <a:t>• Humanitarian HCII Air-Drop Staging: Identifies acute habitations (Dzongu HCII = 91.5, Chungthang 66.0) for IAF ALH helicopter delivery.</a:t>
            </a:r>
          </a:p>
          <a:p>
            <a:pPr>
              <a:defRPr sz="860">
                <a:solidFill>
                  <a:srgbClr val="1E293B"/>
                </a:solidFill>
              </a:defRPr>
            </a:pPr>
            <a:r>
              <a:t>• IRC SP:84 Mountain Freight Optimization: Saves ₹85+ Cr annually in wasted fuel, vehicular burnout, and commercial disruption.</a:t>
            </a:r>
          </a:p>
          <a:p>
            <a:pPr>
              <a:defRPr sz="860">
                <a:solidFill>
                  <a:srgbClr val="1E293B"/>
                </a:solidFill>
              </a:defRPr>
            </a:pPr>
            <a:r>
              <a:t>• Replicable Pan-Himalayan Arc: Seamlessly extensible to Uttarakhand Char Dham, Himachal NH-5, and Arunachal frontier axes.</a:t>
            </a:r>
          </a:p>
        </p:txBody>
      </p:sp>
      <p:pic>
        <p:nvPicPr>
          <p:cNvPr id="13" name="Picture 12" descr="pillars_graph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166360"/>
            <a:ext cx="11094415" cy="1143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4063593" cy="36576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593" y="969264"/>
            <a:ext cx="4063593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187" y="969264"/>
            <a:ext cx="4064508" cy="36576"/>
          </a:xfrm>
          <a:prstGeom prst="rect">
            <a:avLst/>
          </a:prstGeom>
          <a:solidFill>
            <a:srgbClr val="1288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SIH 2026 | PS ID: 26001 | MDONER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47472"/>
            <a:ext cx="110944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Quantified National Impact &amp; 'Before vs. After' Benchmark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37960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PARVAT NETRA -- NER Sentinel Decision Intelligence Platform | Ministry of Development of North Eastern Region (MDoNER) | SIH-26001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143000"/>
            <a:ext cx="4023360" cy="51663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50">
                <a:solidFill>
                  <a:srgbClr val="1E3A8A"/>
                </a:solidFill>
              </a:defRPr>
            </a:pPr>
            <a:r>
              <a:t>4 PILLARS OF NATIONAL IMPACT</a:t>
            </a:r>
          </a:p>
          <a:p>
            <a:pPr>
              <a:defRPr b="1" sz="950">
                <a:solidFill>
                  <a:srgbClr val="10B981"/>
                </a:solidFill>
              </a:defRPr>
            </a:pPr>
            <a:r>
              <a:t>1. Zero Casualties on NH-10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Predictive 24-48h lead time enables district magistrates to halt civilian traffic well ahead of catastrophic scarp failure.</a:t>
            </a:r>
          </a:p>
          <a:p>
            <a:pPr>
              <a:defRPr b="1" sz="950">
                <a:solidFill>
                  <a:srgbClr val="10B981"/>
                </a:solidFill>
              </a:defRPr>
            </a:pPr>
            <a:r>
              <a:t>2. Logistics Continuity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IRC SP:84 routing diverts critical 40T supply trucks to Lava-Gorubathan bypass, preventing regional isolation and market panic.</a:t>
            </a:r>
          </a:p>
          <a:p>
            <a:pPr>
              <a:defRPr b="1" sz="950">
                <a:solidFill>
                  <a:srgbClr val="10B981"/>
                </a:solidFill>
              </a:defRPr>
            </a:pPr>
            <a:r>
              <a:t>3. ₹85+ Cr Annual Savings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Eliminating false alarms and targeted proactive road clearance prevents massive fuel, vehicle wear, and wasted relief funds.</a:t>
            </a:r>
          </a:p>
          <a:p>
            <a:pPr>
              <a:defRPr b="1" sz="950">
                <a:solidFill>
                  <a:srgbClr val="10B981"/>
                </a:solidFill>
              </a:defRPr>
            </a:pPr>
            <a:r>
              <a:t>4. Civil-Military Synergy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Guarantees Indian Army and BRO 758/764 BRTF logistics convoys are guided with real-time geotechnical corridor clearance.</a:t>
            </a:r>
          </a:p>
        </p:txBody>
      </p:sp>
      <p:pic>
        <p:nvPicPr>
          <p:cNvPr id="11" name="Picture 10" descr="chart_before_af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43000"/>
            <a:ext cx="6888175" cy="420624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4754880" y="5486400"/>
            <a:ext cx="2194560" cy="8229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00">
                <a:solidFill>
                  <a:srgbClr val="10B981"/>
                </a:solidFill>
              </a:defRPr>
            </a:pPr>
            <a:r>
              <a:t>+800% Lead Time</a:t>
            </a:r>
          </a:p>
          <a:p>
            <a:pPr>
              <a:defRPr sz="750">
                <a:solidFill>
                  <a:srgbClr val="E2E8F0"/>
                </a:solidFill>
              </a:defRPr>
            </a:pPr>
            <a:r>
              <a:t>2-4h Reactive -&gt; 24-48h Physical Forecast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86600" y="5486400"/>
            <a:ext cx="2194560" cy="8229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00">
                <a:solidFill>
                  <a:srgbClr val="38BDF8"/>
                </a:solidFill>
              </a:defRPr>
            </a:pPr>
            <a:r>
              <a:t>-81% False Alarms</a:t>
            </a:r>
          </a:p>
          <a:p>
            <a:pPr>
              <a:defRPr sz="750">
                <a:solidFill>
                  <a:srgbClr val="E2E8F0"/>
                </a:solidFill>
              </a:defRPr>
            </a:pPr>
            <a:r>
              <a:t>48% Single-Gauge -&gt; 9% Multimodal Fusion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18320" y="5486400"/>
            <a:ext cx="2194560" cy="8229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00">
                <a:solidFill>
                  <a:srgbClr val="D97706"/>
                </a:solidFill>
              </a:defRPr>
            </a:pPr>
            <a:r>
              <a:t>-92% Triage Latency</a:t>
            </a:r>
          </a:p>
          <a:p>
            <a:pPr>
              <a:defRPr sz="750">
                <a:solidFill>
                  <a:srgbClr val="E2E8F0"/>
                </a:solidFill>
              </a:defRPr>
            </a:pPr>
            <a:r>
              <a:t>180m Delay -&gt; 15m BRO Plant Staging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4063593" cy="36576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593" y="969264"/>
            <a:ext cx="4063593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187" y="969264"/>
            <a:ext cx="4064508" cy="36576"/>
          </a:xfrm>
          <a:prstGeom prst="rect">
            <a:avLst/>
          </a:prstGeom>
          <a:solidFill>
            <a:srgbClr val="1288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SIH 2026 | PS ID: 26001 | MDONER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47472"/>
            <a:ext cx="110944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Research, References &amp; National Policy Foundations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37960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PARVAT NETRA -- NER Sentinel Decision Intelligence Platform | Ministry of Development of North Eastern Region (MDoNER) | SIH-26001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143000"/>
            <a:ext cx="5394960" cy="19202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00">
                <a:solidFill>
                  <a:srgbClr val="1E3A8A"/>
                </a:solidFill>
              </a:defRPr>
            </a:pPr>
            <a:r>
              <a:t>🏔️ GSI NATIONAL LANDSLIDE FORECASTING CENTRE (NLFC)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GSI NLFC Bhusanket platform (July 2024) &amp; Bhooskhalan regional node sync (LEWS-REGIONAL-EAST-01).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Mohr-Coulomb limit equilibrium model extended with van Genuchten (1980) SWCC matric suction.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Calibrated to Lesser Himalaya Daling group phyllite and weathered gneiss colluvium.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143000"/>
            <a:ext cx="5394960" cy="19202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00">
                <a:solidFill>
                  <a:srgbClr val="1E3A8A"/>
                </a:solidFill>
              </a:defRPr>
            </a:pPr>
            <a:r>
              <a:t>🛰️ CORRIDOR RAINFALL ENSEMBLE &amp; RADAR DEFORMATION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Mandal &amp; Sarkar (2021) North Sikkim I-D threshold (I = 4.045 D^-0.25) &amp; Froehlich 130mm/24h cumulative buffer.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Copernicus Sentinel-1 Persistent Scatterer InSAR + NISAR L-band (24cm) sub-canopy deformation vectors.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IEEE Landslide4Sense U-Net deep learning multi-spectral scar segmentation.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154680"/>
            <a:ext cx="5394960" cy="19202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00">
                <a:solidFill>
                  <a:srgbClr val="1E3A8A"/>
                </a:solidFill>
              </a:defRPr>
            </a:pPr>
            <a:r>
              <a:t>📡 NDMA SACHET CAP V1.2 XML &amp; C-DOT CBS CH-4370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NDMA National Disaster Early Warning Architecture: OASIS CAP v1.2 XML with 4-language matrix (en, hi, ne, as).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C-DOT Cell Broadcast System (CBS): CH-4370 Extreme Threat mandatory hardware siren &amp; DND override.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Resolves official regional language omission by delivering real-time Nepali (ne-IN) voice alerts.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154680"/>
            <a:ext cx="5394960" cy="19202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00">
                <a:solidFill>
                  <a:srgbClr val="1E3A8A"/>
                </a:solidFill>
              </a:defRPr>
            </a:pPr>
            <a:r>
              <a:t>🌊 POST-GLOF HYDRODYNAMICS &amp; BRO SWASTIK SOP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Oct 2023 South Lhonak GLOF: 6.5m bed aggradation, hydrodynamic basal shear scour degrading passive Pp by 96.0%.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BRO Project Swastik Doctrine: Tactical plant staging SOP (758 &amp; 764 BRTF) at 29th Mile &amp; Likhu Veer.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• IRC SP:84 / SP:48 Mountain Highway Code: Effective grade G_eff = G - 75/R and MoRTH GVW freight routing.</a:t>
            </a:r>
          </a:p>
        </p:txBody>
      </p:sp>
      <p:pic>
        <p:nvPicPr>
          <p:cNvPr id="14" name="Picture 13" descr="policy_bad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166360"/>
            <a:ext cx="11094415" cy="1143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4063593" cy="36576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593" y="969264"/>
            <a:ext cx="4063593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187" y="969264"/>
            <a:ext cx="4064508" cy="36576"/>
          </a:xfrm>
          <a:prstGeom prst="rect">
            <a:avLst/>
          </a:prstGeom>
          <a:solidFill>
            <a:srgbClr val="1288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SIH 2026 | PS ID: 26001 | MDONER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47472"/>
            <a:ext cx="110944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Operational UI Gallery: National Headquarters &amp; GIS Console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37960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PARVAT NETRA -- NER Sentinel Decision Intelligence Platform | Ministry of Development of North Eastern Region (MDoNER) | SIH-26001</a:t>
            </a:r>
          </a:p>
        </p:txBody>
      </p:sp>
      <p:pic>
        <p:nvPicPr>
          <p:cNvPr id="10" name="Picture 9" descr="01_executive_operations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5394960" cy="4114800"/>
          </a:xfrm>
          <a:prstGeom prst="rect">
            <a:avLst/>
          </a:prstGeom>
        </p:spPr>
      </p:pic>
      <p:pic>
        <p:nvPicPr>
          <p:cNvPr id="11" name="Picture 10" descr="02_multimodal_gis_conso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88720"/>
            <a:ext cx="5394960" cy="411480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48640" y="5440680"/>
            <a:ext cx="5394960" cy="914400"/>
          </a:xfrm>
          <a:prstGeom prst="roundRect">
            <a:avLst/>
          </a:prstGeom>
          <a:solidFill>
            <a:srgbClr val="0F172A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950">
                <a:solidFill>
                  <a:srgbClr val="38BDF8"/>
                </a:solidFill>
              </a:defRPr>
            </a:pPr>
            <a:r>
              <a:t>EXECUTIVE OPERATIONS DASHBOARD (GIGW 3.0 STANDARD)</a:t>
            </a:r>
          </a:p>
          <a:p>
            <a:pPr>
              <a:defRPr sz="819">
                <a:solidFill>
                  <a:srgbClr val="E2E8F0"/>
                </a:solidFill>
              </a:defRPr>
            </a:pPr>
            <a:r>
              <a:t>Badges: [GIGW 3.0 Standard] [Live IMD Weather Sync] [Real-Time Incident Marquee]. Bilingual accessible console engineered to national governance standards.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5440680"/>
            <a:ext cx="5394960" cy="914400"/>
          </a:xfrm>
          <a:prstGeom prst="roundRect">
            <a:avLst/>
          </a:prstGeom>
          <a:solidFill>
            <a:srgbClr val="0F172A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950">
                <a:solidFill>
                  <a:srgbClr val="10B981"/>
                </a:solidFill>
              </a:defRPr>
            </a:pPr>
            <a:r>
              <a:t>MULTIMODAL GIS SPATIAL SENTINEL CONSOLE</a:t>
            </a:r>
          </a:p>
          <a:p>
            <a:pPr>
              <a:defRPr sz="819">
                <a:solidFill>
                  <a:srgbClr val="E2E8F0"/>
                </a:solidFill>
              </a:defRPr>
            </a:pPr>
            <a:r>
              <a:t>Badges: [500m PostGIS Road Buffer] [Pulsating IoT Telemetry Nodes] [InSAR Radar Vectors]. High-contrast interactive Leaflet GIS with dynamic detour routing.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4063593" cy="36576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593" y="969264"/>
            <a:ext cx="4063593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187" y="969264"/>
            <a:ext cx="4064508" cy="36576"/>
          </a:xfrm>
          <a:prstGeom prst="rect">
            <a:avLst/>
          </a:prstGeom>
          <a:solidFill>
            <a:srgbClr val="1288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SIH 2026 | PS ID: 26001 | MDONER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47472"/>
            <a:ext cx="110944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Operational UI Gallery: Indigenous CAP Audio &amp; Field Triage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37960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PARVAT NETRA -- NER Sentinel Decision Intelligence Platform | Ministry of Development of North Eastern Region (MDoNER) | SIH-26001</a:t>
            </a:r>
          </a:p>
        </p:txBody>
      </p:sp>
      <p:pic>
        <p:nvPicPr>
          <p:cNvPr id="10" name="Picture 9" descr="03_bilingual_indigenous_voice_cap_mod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5394960" cy="4114800"/>
          </a:xfrm>
          <a:prstGeom prst="rect">
            <a:avLst/>
          </a:prstGeom>
        </p:spPr>
      </p:pic>
      <p:pic>
        <p:nvPicPr>
          <p:cNvPr id="11" name="Picture 10" descr="02_multimodal_gis_conso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88720"/>
            <a:ext cx="5394960" cy="411480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48640" y="5440680"/>
            <a:ext cx="5394960" cy="914400"/>
          </a:xfrm>
          <a:prstGeom prst="roundRect">
            <a:avLst/>
          </a:prstGeom>
          <a:solidFill>
            <a:srgbClr val="0F172A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950">
                <a:solidFill>
                  <a:srgbClr val="D97706"/>
                </a:solidFill>
              </a:defRPr>
            </a:pPr>
            <a:r>
              <a:t>INDIGENOUS CAP AUDIO BROADCAST MODAL</a:t>
            </a:r>
          </a:p>
          <a:p>
            <a:pPr>
              <a:defRPr sz="819">
                <a:solidFill>
                  <a:srgbClr val="E2E8F0"/>
                </a:solidFill>
              </a:defRPr>
            </a:pPr>
            <a:r>
              <a:t>Badges: [4-Language Indigenous Matrix (EN, HI, NE, AS)] [Web Speech Audio TTS]. Immediate synthesized vernacular speech for hands-free driver and tribal safety.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5440680"/>
            <a:ext cx="5394960" cy="914400"/>
          </a:xfrm>
          <a:prstGeom prst="roundRect">
            <a:avLst/>
          </a:prstGeom>
          <a:solidFill>
            <a:srgbClr val="0F172A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950">
                <a:solidFill>
                  <a:srgbClr val="38BDF8"/>
                </a:solidFill>
              </a:defRPr>
            </a:pPr>
            <a:r>
              <a:t>EDGE COMPUTER VISION DISTRESS TRIAGE &amp; CLUSTERING</a:t>
            </a:r>
          </a:p>
          <a:p>
            <a:pPr>
              <a:defRPr sz="819">
                <a:solidFill>
                  <a:srgbClr val="E2E8F0"/>
                </a:solidFill>
              </a:defRPr>
            </a:pPr>
            <a:r>
              <a:t>Badges: [PostGIS DBSCAN Spatial Clusters] [Edge CV Crack Triage (Aperture mm)]. Eliminates crowdsource noise and groups citizen fissures into BRO patrol targets.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